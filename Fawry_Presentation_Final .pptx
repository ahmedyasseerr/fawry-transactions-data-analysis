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98"/>
    <a:srgbClr val="FEE5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3747-697C-60FB-590E-E8D61A9B7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ABDFB-8F50-326D-7787-45F28D322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19937-687E-C81B-1C5C-7B6C2664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41F93-35DF-EBC1-78BD-94F83C58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408C9-0966-1B1B-4638-4326309D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945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A35B-1CC6-766B-F519-4D3E76E9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75AE8-3DE8-AD6B-9121-1ACF6833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269BE-4F3E-3C4D-2026-40A60E69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42BE9-1F50-A65B-E2ED-827F3DF1F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0249-B4DB-0670-562F-C434ABC1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6236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88001-A627-458F-0BE8-FE19ED13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1B1B4-9ED8-F40C-E2A7-23718B933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6CC7-7261-4FD0-A282-60EB251C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87165-9B89-31B4-F611-7C781E42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7EFF-E455-621C-423D-14A0DF4C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585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F44C-96C1-16AC-860F-C42954C2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20334-72F1-4301-98AB-832B00341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3ACC6-BD64-B5C4-A431-2315DBF2A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4350-8E85-D8B5-EB4A-1F54B291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9B276-0CC2-DFC4-5677-B0684DCEF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BAC8E-6F03-309A-B1A2-3BF743C9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43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1695-19DE-5129-4FCA-BA57CEE5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AD0E5-205F-1FCE-257E-415282193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3206-2AE6-5140-7461-0F2E7419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19B94-559B-54F7-4AE2-50AA07E84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5E5AA-CE99-68CA-887C-33495D87B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BD3D0-83D8-63F5-8D00-9FCDA089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AF361-93FD-C35F-0AAC-2D84884B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A60E2-9E22-345F-E1F7-43DAB6D1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3608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C733-E242-D33D-A91F-0E4DFFCB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04FF5-991A-7737-7C83-30DBDE93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8C845-A290-B65D-E15B-C2FB0200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EC212-7FCD-FACE-C65B-E892280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1582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F4598B-B6DD-8D1B-1C5C-14906F66B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BEB18-8D4F-225C-05AE-DB964282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5AA08-B2B1-7434-7006-3064CF3C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3076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9C0E-0763-DFC0-FE7B-0BCA9D73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2877-EEE3-F545-E901-E99BEC67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F695F-50BB-4220-3CDB-2176639EB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A9F17-37E2-D3B3-F129-FECE93BB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FCFDB-AE85-F641-078D-FBEBA354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9264F-DBDC-A46D-71C6-0337A0D7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1075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23AB-488E-378D-B864-E8E171F0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4FD65F-92A0-AA6A-886A-9208189CE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DF300-4709-BC75-7CA2-85AFDBBE0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DBCCF-6AD1-1D48-D8A3-DD149524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7584B-635B-3215-987C-B1809A6A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99356-2ED4-05A5-83FC-60560CF9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1886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7770-46E1-A636-A9E4-6DE48AC3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4C1D8-1A38-B8A2-6DBD-E94C034AB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6399-357C-D8C1-511F-C0CCAA39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77A43-522A-C1AC-9A57-8F5B2D1B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35A8D-4041-A9A5-A875-D6E9F12A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774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A491E-2024-5058-020B-58AAA489A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9268B-A4E6-C3C4-3711-0B566AD93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77033-A4B9-2757-8D0C-C893AF7C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7AE2-EA5C-BFD4-A012-8DA779F6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AEDC-5553-F819-F2D5-B76358F8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8448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4D878-43BF-DD7D-1526-391EA7EE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63C08-F8CC-2CF3-036B-F19199F41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77296-A678-F330-1465-CC9EB71B3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457EB-751E-4577-A742-A80262B52BFB}" type="datetimeFigureOut">
              <a:rPr lang="ar-EG" smtClean="0"/>
              <a:t>24/02/1448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E3F2-6ACE-A9DB-F74C-CB7E98232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09BF5-F97A-68EC-EBB0-1576E041A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9E427-F837-4C91-8AD4-949B2E4D09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7805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E74A-FAE3-B37B-40F3-849D79BFC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033BE-0959-943B-2648-AF81A56EC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E31B05-CBD8-4870-53C6-84726348B5E0}"/>
              </a:ext>
            </a:extLst>
          </p:cNvPr>
          <p:cNvSpPr/>
          <p:nvPr/>
        </p:nvSpPr>
        <p:spPr>
          <a:xfrm>
            <a:off x="3584813" y="3730390"/>
            <a:ext cx="6596418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ar-EG" dirty="0">
              <a:solidFill>
                <a:srgbClr val="006D98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642F85-4C16-7015-2515-3CB7FDE10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194"/>
            <a:ext cx="12291900" cy="6914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8FF79D-D80D-D05D-751B-E8A9D9D40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56194"/>
            <a:ext cx="12461416" cy="70095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14B7AB-5EA0-F84D-193C-C8B6259CFD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50" y="-321248"/>
            <a:ext cx="11526520" cy="6483668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C439880-2335-302C-0C14-715573DFB4F5}"/>
              </a:ext>
            </a:extLst>
          </p:cNvPr>
          <p:cNvSpPr/>
          <p:nvPr/>
        </p:nvSpPr>
        <p:spPr>
          <a:xfrm>
            <a:off x="2620533" y="3153753"/>
            <a:ext cx="7220348" cy="1153160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 err="1">
                <a:solidFill>
                  <a:srgbClr val="006D98"/>
                </a:solidFill>
                <a:cs typeface="+mj-cs"/>
              </a:rPr>
              <a:t>Fawry</a:t>
            </a:r>
            <a:r>
              <a:rPr lang="en-US" sz="3200" b="1" dirty="0">
                <a:solidFill>
                  <a:srgbClr val="006D98"/>
                </a:solidFill>
                <a:cs typeface="+mj-cs"/>
              </a:rPr>
              <a:t> Business Intelligence System</a:t>
            </a:r>
          </a:p>
          <a:p>
            <a:pPr algn="ctr"/>
            <a:r>
              <a:rPr lang="en-US" sz="1800" b="1" dirty="0">
                <a:solidFill>
                  <a:srgbClr val="006D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&amp; Business Performance Analysis</a:t>
            </a:r>
            <a:br>
              <a:rPr lang="en-US" sz="1800" b="1" dirty="0">
                <a:solidFill>
                  <a:srgbClr val="006D98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solidFill>
                  <a:srgbClr val="006D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Intelligence &amp; Data Analytics Project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F232521-DE61-500F-98FD-D499A647160D}"/>
              </a:ext>
            </a:extLst>
          </p:cNvPr>
          <p:cNvSpPr/>
          <p:nvPr/>
        </p:nvSpPr>
        <p:spPr>
          <a:xfrm>
            <a:off x="3098044" y="4429919"/>
            <a:ext cx="6152636" cy="5688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B181EA-CDA6-8A14-AE7F-AAB44F2DEF6F}"/>
              </a:ext>
            </a:extLst>
          </p:cNvPr>
          <p:cNvSpPr txBox="1"/>
          <p:nvPr/>
        </p:nvSpPr>
        <p:spPr>
          <a:xfrm>
            <a:off x="2688126" y="4470559"/>
            <a:ext cx="70187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Prepared by: [ NTI Data Analysis G3 ] 2026</a:t>
            </a:r>
          </a:p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endParaRPr lang="ar-EG" sz="2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1- Ahmed Yasser                     4- </a:t>
            </a:r>
            <a:r>
              <a:rPr lang="en-US" sz="2400" b="1" kern="1200" dirty="0" err="1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Alhusseiny</a:t>
            </a: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Gaber</a:t>
            </a:r>
            <a:b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</a:b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2- Ahmed Fathy                         5- Kamal Ali</a:t>
            </a:r>
            <a:endParaRPr lang="ar-EG" sz="2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3- Ahmed </a:t>
            </a:r>
            <a:r>
              <a:rPr lang="en-US" sz="2400" b="1" kern="1200" dirty="0" err="1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Abdelhady</a:t>
            </a: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           6- Ali Mohamed</a:t>
            </a:r>
            <a:endParaRPr lang="ar-EG" sz="2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b="1" kern="1200" dirty="0">
                <a:solidFill>
                  <a:srgbClr val="006D98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                              7- Shahd Ahmed</a:t>
            </a:r>
            <a:endParaRPr lang="ar-EG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282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E9AE-A6DC-9DBE-BCF5-FA681F48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C90207-E404-CFDE-3C21-345DA960F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16E838-30D1-4506-8DD2-BCEB632BFCD3}"/>
              </a:ext>
            </a:extLst>
          </p:cNvPr>
          <p:cNvSpPr/>
          <p:nvPr/>
        </p:nvSpPr>
        <p:spPr>
          <a:xfrm>
            <a:off x="304800" y="365125"/>
            <a:ext cx="3448334" cy="887105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900" b="1" dirty="0">
                <a:solidFill>
                  <a:srgbClr val="006D98"/>
                </a:solidFill>
              </a:rPr>
              <a:t>Business Context</a:t>
            </a:r>
            <a:r>
              <a:rPr lang="ar-EG" dirty="0"/>
              <a:t>ر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D108FD-353C-CB7A-37E8-453A896F1597}"/>
              </a:ext>
            </a:extLst>
          </p:cNvPr>
          <p:cNvSpPr/>
          <p:nvPr/>
        </p:nvSpPr>
        <p:spPr>
          <a:xfrm>
            <a:off x="304800" y="1310184"/>
            <a:ext cx="8024883" cy="523164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b="1" dirty="0">
                <a:solidFill>
                  <a:srgbClr val="006D98"/>
                </a:solidFill>
                <a:effectLst/>
              </a:rPr>
              <a:t>Understanding the </a:t>
            </a:r>
            <a:r>
              <a:rPr lang="en-US" sz="2000" b="1" dirty="0" err="1">
                <a:solidFill>
                  <a:srgbClr val="006D98"/>
                </a:solidFill>
                <a:effectLst/>
              </a:rPr>
              <a:t>Fawry</a:t>
            </a:r>
            <a:r>
              <a:rPr lang="en-US" sz="2000" b="1" dirty="0">
                <a:solidFill>
                  <a:srgbClr val="006D98"/>
                </a:solidFill>
                <a:effectLst/>
              </a:rPr>
              <a:t> ecosystem and its transaction landscape</a:t>
            </a:r>
            <a:endParaRPr lang="ar-EG" sz="2000" b="1" dirty="0">
              <a:solidFill>
                <a:srgbClr val="006D98"/>
              </a:solidFill>
              <a:effectLst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92FD6A1-841B-D918-1C04-8E84521BB225}"/>
              </a:ext>
            </a:extLst>
          </p:cNvPr>
          <p:cNvSpPr/>
          <p:nvPr/>
        </p:nvSpPr>
        <p:spPr>
          <a:xfrm>
            <a:off x="373039" y="2870579"/>
            <a:ext cx="677839" cy="363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D93119-2439-1D4A-14CC-513496692152}"/>
              </a:ext>
            </a:extLst>
          </p:cNvPr>
          <p:cNvSpPr/>
          <p:nvPr/>
        </p:nvSpPr>
        <p:spPr>
          <a:xfrm>
            <a:off x="1055427" y="2728415"/>
            <a:ext cx="10226722" cy="8291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err="1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Fawry</a:t>
            </a:r>
            <a:r>
              <a:rPr lang="en-US" b="1" dirty="0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 operates within Egypt’s digital payments and financial technology ecosystem, connecting customers, merchants, and service providers through digital payment solutions</a:t>
            </a:r>
            <a:endParaRPr lang="ar-EG" b="1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74744DA-B4C9-A60B-E47C-A6099920D3B7}"/>
              </a:ext>
            </a:extLst>
          </p:cNvPr>
          <p:cNvSpPr/>
          <p:nvPr/>
        </p:nvSpPr>
        <p:spPr>
          <a:xfrm>
            <a:off x="373039" y="3874827"/>
            <a:ext cx="677839" cy="363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070230-8004-7798-C522-A8CCB6302B0C}"/>
              </a:ext>
            </a:extLst>
          </p:cNvPr>
          <p:cNvSpPr/>
          <p:nvPr/>
        </p:nvSpPr>
        <p:spPr>
          <a:xfrm>
            <a:off x="630071" y="3802606"/>
            <a:ext cx="10786281" cy="8291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Transactions take place across multiple services, merchants, payment methods, and digital channels, generating valuable operational and business data</a:t>
            </a:r>
            <a:endParaRPr lang="ar-EG" b="1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CE01C7C-4C8E-72E3-5DC2-72CF5B71D6C9}"/>
              </a:ext>
            </a:extLst>
          </p:cNvPr>
          <p:cNvSpPr/>
          <p:nvPr/>
        </p:nvSpPr>
        <p:spPr>
          <a:xfrm>
            <a:off x="373039" y="4982497"/>
            <a:ext cx="677839" cy="363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D5FFDB-F8BF-6D22-225A-B78B3AD61F30}"/>
              </a:ext>
            </a:extLst>
          </p:cNvPr>
          <p:cNvSpPr/>
          <p:nvPr/>
        </p:nvSpPr>
        <p:spPr>
          <a:xfrm>
            <a:off x="532263" y="4877862"/>
            <a:ext cx="10524698" cy="9507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Analyzing this data can help identify transaction trends, evaluate service and merchant performance, and monitor operational efficiency</a:t>
            </a:r>
            <a:endParaRPr lang="ar-EG" b="1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F6641-B93B-4908-FEA7-9AB4EBE537F5}"/>
              </a:ext>
            </a:extLst>
          </p:cNvPr>
          <p:cNvSpPr txBox="1"/>
          <p:nvPr/>
        </p:nvSpPr>
        <p:spPr>
          <a:xfrm>
            <a:off x="90985" y="5828659"/>
            <a:ext cx="12155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6D98"/>
                </a:solidFill>
              </a:rPr>
              <a:t>Customers → Transactions → Services &amp; Merchants → Business Insights</a:t>
            </a:r>
            <a:endParaRPr lang="ar-EG" dirty="0">
              <a:solidFill>
                <a:srgbClr val="006D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89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/>
      <p:bldP spid="14" grpId="0" animBg="1"/>
      <p:bldP spid="16" grpId="0"/>
      <p:bldP spid="17" grpId="0" animBg="1"/>
      <p:bldP spid="18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E755-91B0-6FFC-E8BB-3FFFB011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F8CF12-3A33-7613-3982-8B940FC72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0669BE-CF6D-B617-D0DC-A062AC56B33E}"/>
              </a:ext>
            </a:extLst>
          </p:cNvPr>
          <p:cNvSpPr/>
          <p:nvPr/>
        </p:nvSpPr>
        <p:spPr>
          <a:xfrm>
            <a:off x="304800" y="395785"/>
            <a:ext cx="3634854" cy="946244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Business Problem</a:t>
            </a:r>
            <a:endParaRPr lang="ar-EG" sz="3200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C98E4A-0FEB-EC8D-5C5C-3ECF75043314}"/>
              </a:ext>
            </a:extLst>
          </p:cNvPr>
          <p:cNvSpPr/>
          <p:nvPr/>
        </p:nvSpPr>
        <p:spPr>
          <a:xfrm>
            <a:off x="304799" y="1431380"/>
            <a:ext cx="6036861" cy="509517"/>
          </a:xfrm>
          <a:prstGeom prst="roundRect">
            <a:avLst>
              <a:gd name="adj" fmla="val 3363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ln>
                  <a:solidFill>
                    <a:srgbClr val="006D98"/>
                  </a:solidFill>
                </a:ln>
                <a:solidFill>
                  <a:srgbClr val="006D98"/>
                </a:solidFill>
              </a:rPr>
              <a:t>Turning transaction data into actionable business insights</a:t>
            </a:r>
            <a:endParaRPr lang="ar-EG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0754CE-82CB-0454-4E47-8FB6F0684B2B}"/>
              </a:ext>
            </a:extLst>
          </p:cNvPr>
          <p:cNvSpPr/>
          <p:nvPr/>
        </p:nvSpPr>
        <p:spPr>
          <a:xfrm>
            <a:off x="304799" y="2315569"/>
            <a:ext cx="5568288" cy="304736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000" b="1" dirty="0">
                <a:solidFill>
                  <a:srgbClr val="006D98"/>
                </a:solidFill>
              </a:rPr>
              <a:t>THE CHALLENGE</a:t>
            </a:r>
            <a:br>
              <a:rPr lang="en-US" dirty="0">
                <a:solidFill>
                  <a:srgbClr val="006D98"/>
                </a:solidFill>
              </a:rPr>
            </a:br>
            <a:r>
              <a:rPr lang="en-US" dirty="0" err="1">
                <a:solidFill>
                  <a:srgbClr val="006D98"/>
                </a:solidFill>
              </a:rPr>
              <a:t>Fawry’s</a:t>
            </a:r>
            <a:r>
              <a:rPr lang="en-US" dirty="0">
                <a:solidFill>
                  <a:srgbClr val="006D98"/>
                </a:solidFill>
              </a:rPr>
              <a:t> transaction ecosystem generates large volumes of data across different services, merchants, payment methods, and transaction channels. Without a centralized analytical view, identifying performance trends and business opportunities can be challenging</a:t>
            </a:r>
            <a:br>
              <a:rPr lang="en-US" dirty="0">
                <a:solidFill>
                  <a:srgbClr val="006D98"/>
                </a:solidFill>
              </a:rPr>
            </a:br>
            <a:endParaRPr lang="ar-EG" dirty="0">
              <a:solidFill>
                <a:srgbClr val="006D98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93FDCD-7CCA-FE97-E86D-272290B5FA28}"/>
              </a:ext>
            </a:extLst>
          </p:cNvPr>
          <p:cNvSpPr/>
          <p:nvPr/>
        </p:nvSpPr>
        <p:spPr>
          <a:xfrm>
            <a:off x="6048232" y="2315569"/>
            <a:ext cx="5770729" cy="304736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000" b="1" dirty="0">
                <a:solidFill>
                  <a:srgbClr val="006D98"/>
                </a:solidFill>
              </a:rPr>
              <a:t>KEY QUESTIONS </a:t>
            </a:r>
            <a:br>
              <a:rPr lang="en-US" dirty="0">
                <a:solidFill>
                  <a:srgbClr val="006D98"/>
                </a:solidFill>
              </a:rPr>
            </a:br>
            <a:r>
              <a:rPr lang="en-US" sz="1400" b="1" dirty="0">
                <a:solidFill>
                  <a:srgbClr val="006D98"/>
                </a:solidFill>
              </a:rPr>
              <a:t>1- </a:t>
            </a:r>
            <a:r>
              <a:rPr lang="en-US" sz="1400" dirty="0">
                <a:solidFill>
                  <a:srgbClr val="006D98"/>
                </a:solidFill>
              </a:rPr>
              <a:t>Which services generate the highest transaction volume and revenue?</a:t>
            </a:r>
          </a:p>
          <a:p>
            <a:r>
              <a:rPr lang="en-US" sz="1400" b="1" dirty="0">
                <a:solidFill>
                  <a:srgbClr val="006D98"/>
                </a:solidFill>
              </a:rPr>
              <a:t>2- </a:t>
            </a:r>
            <a:r>
              <a:rPr lang="en-US" sz="1400" dirty="0">
                <a:solidFill>
                  <a:srgbClr val="006D98"/>
                </a:solidFill>
              </a:rPr>
              <a:t>Which merchants contribute the most to overall transaction performance?</a:t>
            </a:r>
          </a:p>
          <a:p>
            <a:r>
              <a:rPr lang="en-US" sz="1400" b="1" dirty="0">
                <a:solidFill>
                  <a:srgbClr val="006D98"/>
                </a:solidFill>
              </a:rPr>
              <a:t>3- </a:t>
            </a:r>
            <a:r>
              <a:rPr lang="en-US" sz="1400" dirty="0">
                <a:solidFill>
                  <a:srgbClr val="006D98"/>
                </a:solidFill>
              </a:rPr>
              <a:t>What are the most commonly used payment methods and devices?</a:t>
            </a:r>
          </a:p>
          <a:p>
            <a:r>
              <a:rPr lang="en-US" sz="1400" b="1" dirty="0">
                <a:solidFill>
                  <a:srgbClr val="006D98"/>
                </a:solidFill>
              </a:rPr>
              <a:t>4- </a:t>
            </a:r>
            <a:r>
              <a:rPr lang="en-US" sz="1400" dirty="0">
                <a:solidFill>
                  <a:srgbClr val="006D98"/>
                </a:solidFill>
              </a:rPr>
              <a:t>How does transaction performance change over time?</a:t>
            </a:r>
          </a:p>
          <a:p>
            <a:r>
              <a:rPr lang="en-US" sz="1400" b="1" dirty="0">
                <a:solidFill>
                  <a:srgbClr val="006D98"/>
                </a:solidFill>
              </a:rPr>
              <a:t>5- </a:t>
            </a:r>
            <a:r>
              <a:rPr lang="en-US" sz="1400" dirty="0">
                <a:solidFill>
                  <a:srgbClr val="006D98"/>
                </a:solidFill>
              </a:rPr>
              <a:t>What factors are associated with failed or slow transactions?</a:t>
            </a:r>
            <a:br>
              <a:rPr lang="en-US" dirty="0">
                <a:solidFill>
                  <a:srgbClr val="006D98"/>
                </a:solidFill>
              </a:rPr>
            </a:br>
            <a:endParaRPr lang="ar-EG" dirty="0">
              <a:solidFill>
                <a:srgbClr val="006D98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4DB93D-9A84-A2C5-AED4-46F754F5B8DA}"/>
              </a:ext>
            </a:extLst>
          </p:cNvPr>
          <p:cNvSpPr/>
          <p:nvPr/>
        </p:nvSpPr>
        <p:spPr>
          <a:xfrm>
            <a:off x="291151" y="5609231"/>
            <a:ext cx="11514162" cy="69148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Our Goal:</a:t>
            </a:r>
            <a:br>
              <a:rPr lang="en-US" dirty="0"/>
            </a:br>
            <a:r>
              <a:rPr lang="en-US" dirty="0"/>
              <a:t>Transform raw transaction data into meaningful insights that support data-driven decision-making.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26644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5CBD9BE-E7E4-4D37-09CF-408E8A619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B66A7C-DE8A-246F-B352-A3AE9A5CFA87}"/>
              </a:ext>
            </a:extLst>
          </p:cNvPr>
          <p:cNvSpPr/>
          <p:nvPr/>
        </p:nvSpPr>
        <p:spPr>
          <a:xfrm>
            <a:off x="304800" y="395785"/>
            <a:ext cx="3634854" cy="946244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dirty="0">
                <a:solidFill>
                  <a:srgbClr val="006D98"/>
                </a:solidFill>
              </a:rPr>
              <a:t>Project Objectives</a:t>
            </a:r>
            <a:endParaRPr lang="ar-EG" sz="3200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53B8EB-FCFB-FD2D-47C1-D91CB9516557}"/>
              </a:ext>
            </a:extLst>
          </p:cNvPr>
          <p:cNvSpPr/>
          <p:nvPr/>
        </p:nvSpPr>
        <p:spPr>
          <a:xfrm>
            <a:off x="501556" y="1601335"/>
            <a:ext cx="3334603" cy="2260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1 - Transaction Analysis</a:t>
            </a:r>
          </a:p>
          <a:p>
            <a:r>
              <a:rPr lang="en-US" b="1" dirty="0"/>
              <a:t>Analyze transaction activity and identify trends across time, status, payment methods, and devices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692ED-40E7-0C70-EEB2-80B506D984B8}"/>
              </a:ext>
            </a:extLst>
          </p:cNvPr>
          <p:cNvSpPr/>
          <p:nvPr/>
        </p:nvSpPr>
        <p:spPr>
          <a:xfrm>
            <a:off x="6096000" y="3999930"/>
            <a:ext cx="3334603" cy="2260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05 — Interactive BI Solution</a:t>
            </a:r>
          </a:p>
          <a:p>
            <a:r>
              <a:rPr lang="en-US" b="1" dirty="0"/>
              <a:t>Build an interactive Power BI dashboard that transforms analytical findings into actionable insights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776410-CF71-B018-262A-37CFC083C2CD}"/>
              </a:ext>
            </a:extLst>
          </p:cNvPr>
          <p:cNvSpPr/>
          <p:nvPr/>
        </p:nvSpPr>
        <p:spPr>
          <a:xfrm>
            <a:off x="7676866" y="1601334"/>
            <a:ext cx="3334603" cy="2260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/>
              <a:t>03 — Merchant Performance</a:t>
            </a:r>
          </a:p>
          <a:p>
            <a:r>
              <a:rPr lang="en-US" b="1"/>
              <a:t>Assess merchant activity and identify top-performing merchants and business segments</a:t>
            </a:r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D0B382-3376-39EE-92FB-4F4499A198FC}"/>
              </a:ext>
            </a:extLst>
          </p:cNvPr>
          <p:cNvSpPr/>
          <p:nvPr/>
        </p:nvSpPr>
        <p:spPr>
          <a:xfrm>
            <a:off x="4071583" y="1601337"/>
            <a:ext cx="3334603" cy="2260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02 — Service Performance</a:t>
            </a:r>
          </a:p>
          <a:p>
            <a:r>
              <a:rPr lang="en-US" b="1" dirty="0"/>
              <a:t>Evaluate service performance and identify the most frequently used and highest-value services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CB82596-A9D9-8798-BA09-9A04A34F2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EG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9CD8FC-1645-D8C1-D742-935E804D2D14}"/>
              </a:ext>
            </a:extLst>
          </p:cNvPr>
          <p:cNvSpPr/>
          <p:nvPr/>
        </p:nvSpPr>
        <p:spPr>
          <a:xfrm>
            <a:off x="2445224" y="3999929"/>
            <a:ext cx="3334603" cy="226097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04 — Operational Efficiency</a:t>
            </a:r>
          </a:p>
          <a:p>
            <a:r>
              <a:rPr lang="en-US" b="1" dirty="0"/>
              <a:t>Monitor processing time and transaction status to identify potential performance issues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0FC68A-82BA-85F7-8A30-F17062F0BDF5}"/>
              </a:ext>
            </a:extLst>
          </p:cNvPr>
          <p:cNvSpPr txBox="1"/>
          <p:nvPr/>
        </p:nvSpPr>
        <p:spPr>
          <a:xfrm>
            <a:off x="3123064" y="6378045"/>
            <a:ext cx="6164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D98"/>
                </a:solidFill>
              </a:rPr>
              <a:t>Analyze</a:t>
            </a:r>
            <a:r>
              <a:rPr lang="en-US" dirty="0">
                <a:solidFill>
                  <a:srgbClr val="006D98"/>
                </a:solidFill>
              </a:rPr>
              <a:t> → </a:t>
            </a:r>
            <a:r>
              <a:rPr lang="en-US" b="1" dirty="0">
                <a:solidFill>
                  <a:srgbClr val="006D98"/>
                </a:solidFill>
              </a:rPr>
              <a:t>Measure</a:t>
            </a:r>
            <a:r>
              <a:rPr lang="en-US" dirty="0">
                <a:solidFill>
                  <a:srgbClr val="006D98"/>
                </a:solidFill>
              </a:rPr>
              <a:t> → </a:t>
            </a:r>
            <a:r>
              <a:rPr lang="en-US" b="1" dirty="0">
                <a:solidFill>
                  <a:srgbClr val="006D98"/>
                </a:solidFill>
              </a:rPr>
              <a:t>Compare</a:t>
            </a:r>
            <a:r>
              <a:rPr lang="en-US" dirty="0">
                <a:solidFill>
                  <a:srgbClr val="006D98"/>
                </a:solidFill>
              </a:rPr>
              <a:t> → </a:t>
            </a:r>
            <a:r>
              <a:rPr lang="en-US" b="1" dirty="0">
                <a:solidFill>
                  <a:srgbClr val="006D98"/>
                </a:solidFill>
              </a:rPr>
              <a:t>Visualize</a:t>
            </a:r>
            <a:r>
              <a:rPr lang="en-US" dirty="0">
                <a:solidFill>
                  <a:srgbClr val="006D98"/>
                </a:solidFill>
              </a:rPr>
              <a:t> → </a:t>
            </a:r>
            <a:r>
              <a:rPr lang="en-US" b="1" dirty="0">
                <a:solidFill>
                  <a:srgbClr val="006D98"/>
                </a:solidFill>
              </a:rPr>
              <a:t>Decide</a:t>
            </a:r>
            <a:endParaRPr lang="ar-EG" b="1" dirty="0">
              <a:solidFill>
                <a:srgbClr val="006D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25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8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97E9DC15-6870-8B21-E826-87F3625C2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6A41E0-B947-4DA3-7951-2F2B69AE1D1A}"/>
              </a:ext>
            </a:extLst>
          </p:cNvPr>
          <p:cNvSpPr/>
          <p:nvPr/>
        </p:nvSpPr>
        <p:spPr>
          <a:xfrm>
            <a:off x="81885" y="172872"/>
            <a:ext cx="4676633" cy="868907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000" b="1" dirty="0">
                <a:solidFill>
                  <a:srgbClr val="006D98"/>
                </a:solidFill>
              </a:rPr>
              <a:t>Dataset &amp; Data Structure </a:t>
            </a:r>
            <a:endParaRPr lang="ar-EG" sz="3000" b="1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6255BD-888E-2CB2-91C8-C711B8921550}"/>
              </a:ext>
            </a:extLst>
          </p:cNvPr>
          <p:cNvSpPr/>
          <p:nvPr/>
        </p:nvSpPr>
        <p:spPr>
          <a:xfrm>
            <a:off x="81885" y="1096370"/>
            <a:ext cx="5122461" cy="582304"/>
          </a:xfrm>
          <a:prstGeom prst="roundRect">
            <a:avLst/>
          </a:prstGeom>
          <a:solidFill>
            <a:srgbClr val="006D9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/>
              <a:t>From raw records to analysis-ready data</a:t>
            </a:r>
            <a:endParaRPr lang="ar-EG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27BF5E-4ABD-638F-14C8-78846FCD022E}"/>
              </a:ext>
            </a:extLst>
          </p:cNvPr>
          <p:cNvSpPr/>
          <p:nvPr/>
        </p:nvSpPr>
        <p:spPr>
          <a:xfrm>
            <a:off x="250209" y="1874293"/>
            <a:ext cx="11696131" cy="4876800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68450F-07BA-A575-BD41-B21BAB0D2653}"/>
              </a:ext>
            </a:extLst>
          </p:cNvPr>
          <p:cNvSpPr/>
          <p:nvPr/>
        </p:nvSpPr>
        <p:spPr>
          <a:xfrm>
            <a:off x="4139821" y="2132462"/>
            <a:ext cx="3352800" cy="69603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EE5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006D98"/>
                </a:solidFill>
              </a:rPr>
              <a:t>Original Data</a:t>
            </a:r>
            <a:endParaRPr lang="ar-EG" sz="2800" b="1" dirty="0">
              <a:solidFill>
                <a:srgbClr val="006D98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69B1A7-92CF-D17B-9C74-A0CAB473BB33}"/>
              </a:ext>
            </a:extLst>
          </p:cNvPr>
          <p:cNvSpPr/>
          <p:nvPr/>
        </p:nvSpPr>
        <p:spPr>
          <a:xfrm>
            <a:off x="768824" y="3225421"/>
            <a:ext cx="2943367" cy="327546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EE5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b="1" dirty="0">
              <a:solidFill>
                <a:srgbClr val="006D98"/>
              </a:solidFill>
            </a:endParaRPr>
          </a:p>
          <a:p>
            <a:pPr algn="ctr"/>
            <a:endParaRPr lang="en-US" dirty="0">
              <a:solidFill>
                <a:srgbClr val="006D98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6CBFF5-535A-3154-7B31-DA5243AAA154}"/>
              </a:ext>
            </a:extLst>
          </p:cNvPr>
          <p:cNvSpPr/>
          <p:nvPr/>
        </p:nvSpPr>
        <p:spPr>
          <a:xfrm>
            <a:off x="4378656" y="3161732"/>
            <a:ext cx="2943367" cy="327546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EE5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F60AA3-2F3E-1872-1838-6C152EB337E4}"/>
              </a:ext>
            </a:extLst>
          </p:cNvPr>
          <p:cNvSpPr/>
          <p:nvPr/>
        </p:nvSpPr>
        <p:spPr>
          <a:xfrm>
            <a:off x="8397923" y="3161732"/>
            <a:ext cx="2943367" cy="327546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EE5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BC861-2279-5975-7B97-D603441D6C83}"/>
              </a:ext>
            </a:extLst>
          </p:cNvPr>
          <p:cNvSpPr txBox="1"/>
          <p:nvPr/>
        </p:nvSpPr>
        <p:spPr>
          <a:xfrm>
            <a:off x="701153" y="4143866"/>
            <a:ext cx="3078707" cy="18928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950" dirty="0">
                <a:solidFill>
                  <a:srgbClr val="006D98"/>
                </a:solidFill>
              </a:rPr>
              <a:t>Transaction ID - Service ID</a:t>
            </a:r>
            <a:br>
              <a:rPr lang="en-US" sz="1950" dirty="0">
                <a:solidFill>
                  <a:srgbClr val="006D98"/>
                </a:solidFill>
              </a:rPr>
            </a:br>
            <a:r>
              <a:rPr lang="en-US" sz="1950" dirty="0">
                <a:solidFill>
                  <a:srgbClr val="006D98"/>
                </a:solidFill>
              </a:rPr>
              <a:t>Merchant ID - Amount</a:t>
            </a:r>
            <a:br>
              <a:rPr lang="en-US" sz="1950" dirty="0">
                <a:solidFill>
                  <a:srgbClr val="006D98"/>
                </a:solidFill>
              </a:rPr>
            </a:br>
            <a:r>
              <a:rPr lang="en-US" sz="1950" dirty="0" err="1">
                <a:solidFill>
                  <a:srgbClr val="006D98"/>
                </a:solidFill>
              </a:rPr>
              <a:t>Fawry</a:t>
            </a:r>
            <a:r>
              <a:rPr lang="en-US" sz="1950" dirty="0">
                <a:solidFill>
                  <a:srgbClr val="006D98"/>
                </a:solidFill>
              </a:rPr>
              <a:t> Fee -Transaction Date – Status - Payment Method - Device Type - Processing Time</a:t>
            </a:r>
            <a:endParaRPr lang="ar-EG" sz="1950" dirty="0">
              <a:solidFill>
                <a:srgbClr val="006D98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0A70B6-5020-C9FA-07AC-7533395D2EEF}"/>
              </a:ext>
            </a:extLst>
          </p:cNvPr>
          <p:cNvSpPr/>
          <p:nvPr/>
        </p:nvSpPr>
        <p:spPr>
          <a:xfrm>
            <a:off x="1180534" y="3395754"/>
            <a:ext cx="1969825" cy="613644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006D98"/>
                </a:solidFill>
              </a:rPr>
              <a:t>Transactions</a:t>
            </a:r>
          </a:p>
          <a:p>
            <a:pPr algn="ctr"/>
            <a:r>
              <a:rPr lang="en-US" b="1" dirty="0">
                <a:solidFill>
                  <a:srgbClr val="006D98"/>
                </a:solidFill>
              </a:rPr>
              <a:t>10 original fields</a:t>
            </a:r>
            <a:endParaRPr lang="en-US" dirty="0">
              <a:solidFill>
                <a:srgbClr val="006D98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68B90D-CD35-D7A0-4D85-F1468CFF3077}"/>
              </a:ext>
            </a:extLst>
          </p:cNvPr>
          <p:cNvSpPr/>
          <p:nvPr/>
        </p:nvSpPr>
        <p:spPr>
          <a:xfrm>
            <a:off x="4865426" y="3333150"/>
            <a:ext cx="1969825" cy="613644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006D98"/>
                </a:solidFill>
              </a:rPr>
              <a:t>Services</a:t>
            </a:r>
          </a:p>
          <a:p>
            <a:pPr algn="ctr"/>
            <a:r>
              <a:rPr lang="en-US" b="1" dirty="0">
                <a:solidFill>
                  <a:srgbClr val="006D98"/>
                </a:solidFill>
              </a:rPr>
              <a:t>4 fields</a:t>
            </a:r>
            <a:endParaRPr lang="en-US" dirty="0">
              <a:solidFill>
                <a:srgbClr val="006D98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BB7875-7D8D-FF02-FFA4-DB66FDCA8485}"/>
              </a:ext>
            </a:extLst>
          </p:cNvPr>
          <p:cNvSpPr/>
          <p:nvPr/>
        </p:nvSpPr>
        <p:spPr>
          <a:xfrm>
            <a:off x="8966582" y="3334603"/>
            <a:ext cx="1969825" cy="613644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006D98"/>
                </a:solidFill>
              </a:rPr>
              <a:t>Merchants</a:t>
            </a:r>
          </a:p>
          <a:p>
            <a:pPr algn="ctr"/>
            <a:r>
              <a:rPr lang="en-US" b="1" dirty="0">
                <a:solidFill>
                  <a:srgbClr val="006D98"/>
                </a:solidFill>
              </a:rPr>
              <a:t>7 fields</a:t>
            </a:r>
            <a:endParaRPr lang="en-US" dirty="0">
              <a:solidFill>
                <a:srgbClr val="006D98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027014-3F69-3272-4C24-41BE25587F16}"/>
              </a:ext>
            </a:extLst>
          </p:cNvPr>
          <p:cNvSpPr txBox="1"/>
          <p:nvPr/>
        </p:nvSpPr>
        <p:spPr>
          <a:xfrm>
            <a:off x="4243316" y="4229154"/>
            <a:ext cx="3078707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dirty="0">
                <a:solidFill>
                  <a:srgbClr val="006D98"/>
                </a:solidFill>
              </a:rPr>
              <a:t>Service ID</a:t>
            </a:r>
            <a:br>
              <a:rPr lang="en-US" sz="2000" dirty="0">
                <a:solidFill>
                  <a:srgbClr val="006D98"/>
                </a:solidFill>
              </a:rPr>
            </a:br>
            <a:r>
              <a:rPr lang="en-US" sz="2000" dirty="0">
                <a:solidFill>
                  <a:srgbClr val="006D98"/>
                </a:solidFill>
              </a:rPr>
              <a:t>Service Name</a:t>
            </a:r>
            <a:br>
              <a:rPr lang="en-US" sz="2000" dirty="0">
                <a:solidFill>
                  <a:srgbClr val="006D98"/>
                </a:solidFill>
              </a:rPr>
            </a:br>
            <a:r>
              <a:rPr lang="en-US" sz="2000" dirty="0">
                <a:solidFill>
                  <a:srgbClr val="006D98"/>
                </a:solidFill>
              </a:rPr>
              <a:t>Service Provider</a:t>
            </a:r>
            <a:br>
              <a:rPr lang="en-US" sz="2000" dirty="0">
                <a:solidFill>
                  <a:srgbClr val="006D98"/>
                </a:solidFill>
              </a:rPr>
            </a:br>
            <a:r>
              <a:rPr lang="en-US" sz="2000" dirty="0">
                <a:solidFill>
                  <a:srgbClr val="006D98"/>
                </a:solidFill>
              </a:rPr>
              <a:t>Merchant ID</a:t>
            </a:r>
            <a:endParaRPr lang="ar-EG" sz="1950" dirty="0">
              <a:solidFill>
                <a:srgbClr val="006D9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F07BD-670C-AEA6-FF10-14BAAE2CB8BC}"/>
              </a:ext>
            </a:extLst>
          </p:cNvPr>
          <p:cNvSpPr txBox="1"/>
          <p:nvPr/>
        </p:nvSpPr>
        <p:spPr>
          <a:xfrm>
            <a:off x="8412140" y="4229154"/>
            <a:ext cx="2943367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dirty="0">
                <a:solidFill>
                  <a:srgbClr val="006D98"/>
                </a:solidFill>
              </a:rPr>
              <a:t>Merchant ID - Merchant Name - Phone Number - Contract Date - Merchant Type – Region - POS Status</a:t>
            </a:r>
            <a:endParaRPr lang="ar-EG" sz="1950" dirty="0">
              <a:solidFill>
                <a:srgbClr val="006D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9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3" grpId="0" animBg="1"/>
      <p:bldP spid="14" grpId="0" animBg="1"/>
      <p:bldP spid="15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2542993D-A48D-BA3C-B443-4CCF1DC33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8C8E9B-D0F9-B6F0-0277-04093F321109}"/>
              </a:ext>
            </a:extLst>
          </p:cNvPr>
          <p:cNvSpPr/>
          <p:nvPr/>
        </p:nvSpPr>
        <p:spPr>
          <a:xfrm>
            <a:off x="139034" y="159684"/>
            <a:ext cx="7154185" cy="868907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200" b="1" dirty="0">
                <a:solidFill>
                  <a:srgbClr val="006D98"/>
                </a:solidFill>
              </a:rPr>
              <a:t>End-to-End Data Analytics Workflow</a:t>
            </a:r>
            <a:endParaRPr lang="ar-EG" sz="3000" b="1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86A3FA-0F40-5B2B-3B91-E47875F4FC7F}"/>
              </a:ext>
            </a:extLst>
          </p:cNvPr>
          <p:cNvSpPr/>
          <p:nvPr/>
        </p:nvSpPr>
        <p:spPr>
          <a:xfrm>
            <a:off x="139033" y="1139917"/>
            <a:ext cx="11893239" cy="509517"/>
          </a:xfrm>
          <a:prstGeom prst="roundRect">
            <a:avLst>
              <a:gd name="adj" fmla="val 3363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dirty="0">
                <a:solidFill>
                  <a:srgbClr val="006D98"/>
                </a:solidFill>
              </a:rPr>
              <a:t>Transforming raw transaction data into actionable business insights</a:t>
            </a:r>
            <a:endParaRPr lang="ar-EG" sz="2400" dirty="0">
              <a:ln>
                <a:solidFill>
                  <a:srgbClr val="006D98"/>
                </a:solidFill>
              </a:ln>
              <a:solidFill>
                <a:srgbClr val="006D98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62C6A7-043F-F8EE-7366-AC7A535D27AC}"/>
              </a:ext>
            </a:extLst>
          </p:cNvPr>
          <p:cNvSpPr/>
          <p:nvPr/>
        </p:nvSpPr>
        <p:spPr>
          <a:xfrm>
            <a:off x="105508" y="2682092"/>
            <a:ext cx="2066192" cy="3143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b="1" dirty="0"/>
              <a:t>1 _ Raw Data</a:t>
            </a:r>
          </a:p>
          <a:p>
            <a:pPr algn="ctr"/>
            <a:endParaRPr lang="fr-FR" b="1" dirty="0"/>
          </a:p>
          <a:p>
            <a:pPr algn="ctr"/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/>
              <a:t>Merchants</a:t>
            </a:r>
            <a:endParaRPr lang="fr-FR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221EB6-B8F3-E8B8-E2D7-497328549424}"/>
              </a:ext>
            </a:extLst>
          </p:cNvPr>
          <p:cNvSpPr/>
          <p:nvPr/>
        </p:nvSpPr>
        <p:spPr>
          <a:xfrm>
            <a:off x="2517529" y="2719535"/>
            <a:ext cx="2179025" cy="3143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750" b="1" dirty="0"/>
              <a:t>2 _ Python</a:t>
            </a:r>
          </a:p>
          <a:p>
            <a:pPr algn="ctr"/>
            <a:endParaRPr lang="en-US" sz="175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50" b="1" dirty="0"/>
              <a:t>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Merchant RFM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AC08CC-886A-5432-40FB-6839994B773E}"/>
              </a:ext>
            </a:extLst>
          </p:cNvPr>
          <p:cNvSpPr/>
          <p:nvPr/>
        </p:nvSpPr>
        <p:spPr>
          <a:xfrm>
            <a:off x="4948603" y="2719535"/>
            <a:ext cx="2066192" cy="3143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/>
              <a:t>3 _ SQL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Foreign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SQL Queries &amp; Joins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Schema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5E11D9-ADC4-E1A5-6E58-B61B9041CD0C}"/>
              </a:ext>
            </a:extLst>
          </p:cNvPr>
          <p:cNvSpPr/>
          <p:nvPr/>
        </p:nvSpPr>
        <p:spPr>
          <a:xfrm>
            <a:off x="7457341" y="2719535"/>
            <a:ext cx="2066192" cy="3143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/>
              <a:t>4 _ Power BI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Dashboards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6AEDDD-6311-9CDA-9F45-BEC9D1B0FAF7}"/>
              </a:ext>
            </a:extLst>
          </p:cNvPr>
          <p:cNvSpPr/>
          <p:nvPr/>
        </p:nvSpPr>
        <p:spPr>
          <a:xfrm>
            <a:off x="9873760" y="2682092"/>
            <a:ext cx="2066192" cy="3143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b="1" dirty="0"/>
              <a:t>5 _ Business Insights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Trends &amp;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Decisions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4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Python — 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 • 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9518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46504"/>
            <a:ext cx="143842" cy="14582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rPr dirty="0"/>
              <a:t>Data Profiling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Shape, structure and sample inspection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Data types and non-null counts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Descriptive statistics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Null-value and duplicate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200904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62855" y="1713620"/>
            <a:ext cx="141029" cy="1306538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rPr dirty="0"/>
              <a:t>Data Quality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Status categories reviewed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Payment methods reviewed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 err="1"/>
              <a:t>Fawry</a:t>
            </a:r>
            <a:r>
              <a:rPr dirty="0"/>
              <a:t> Fee distribution inspected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Processing Time distribution inspected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00200"/>
            <a:ext cx="3383280" cy="19518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746504"/>
            <a:ext cx="94957" cy="1682496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rPr dirty="0"/>
              <a:t>Outlier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Boxplots used for </a:t>
            </a:r>
            <a:r>
              <a:rPr dirty="0" err="1"/>
              <a:t>Fawry</a:t>
            </a:r>
            <a:r>
              <a:rPr dirty="0"/>
              <a:t> Fee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Boxplots used for Processing Time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IQR method used to identify outliers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rPr dirty="0"/>
              <a:t>Outlier counts prepared for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95804" y="4057298"/>
            <a:ext cx="8503920" cy="50292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dirty="0">
                <a:solidFill>
                  <a:srgbClr val="006D98"/>
                </a:solidFill>
                <a:latin typeface="Aptos"/>
              </a:rPr>
              <a:t>EDA objective: understand data quality and distributions before transformation.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E5E517-FA04-23DE-052C-09FD05BBBF7F}"/>
              </a:ext>
            </a:extLst>
          </p:cNvPr>
          <p:cNvSpPr/>
          <p:nvPr/>
        </p:nvSpPr>
        <p:spPr>
          <a:xfrm>
            <a:off x="685799" y="1059473"/>
            <a:ext cx="7152543" cy="356089"/>
          </a:xfrm>
          <a:prstGeom prst="roundRect">
            <a:avLst/>
          </a:prstGeom>
          <a:solidFill>
            <a:schemeClr val="bg1"/>
          </a:solidFill>
          <a:ln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defRPr sz="1050">
                <a:solidFill>
                  <a:srgbClr val="006D98"/>
                </a:solidFill>
                <a:latin typeface="Aptos"/>
              </a:defRPr>
            </a:pPr>
            <a:r>
              <a:rPr lang="en-US" sz="2000" dirty="0"/>
              <a:t>Profiling the transaction data before cleaning and modeling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2186647" cy="50292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Data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 • CLEANING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19072"/>
            <a:ext cx="100584" cy="139903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01 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Extract numeric values and convert to numeric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727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35424" y="1719072"/>
            <a:ext cx="100584" cy="139903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02  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671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Fill missing Amount and Fawry_Fee using the mean.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38744" y="1719072"/>
            <a:ext cx="100584" cy="139903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737360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03  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671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Convert Transaction_Date to datetime and standardize mixed formats.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301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" y="3776472"/>
            <a:ext cx="100584" cy="139903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59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04 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245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Correct Panding → Pending and Succes → Success.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301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35424" y="3776472"/>
            <a:ext cx="100584" cy="139903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794759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05  Payment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245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Correct the Credit Card spelling/spacing issue.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630168"/>
            <a:ext cx="3383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38744" y="3776472"/>
            <a:ext cx="100584" cy="139903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794759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06  Data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24528"/>
            <a:ext cx="285292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837"/>
                </a:solidFill>
                <a:latin typeface="Aptos"/>
              </a:defRPr>
            </a:pPr>
            <a:r>
              <a:t>Convert Merchant_ID to integer.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B238E1C-BE94-0FAA-5FFE-D9B055A06B1D}"/>
              </a:ext>
            </a:extLst>
          </p:cNvPr>
          <p:cNvSpPr/>
          <p:nvPr/>
        </p:nvSpPr>
        <p:spPr>
          <a:xfrm>
            <a:off x="685800" y="1046285"/>
            <a:ext cx="7552944" cy="38017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defRPr sz="1050">
                <a:solidFill>
                  <a:srgbClr val="006D98"/>
                </a:solidFill>
                <a:latin typeface="Aptos"/>
              </a:defRPr>
            </a:pPr>
            <a:r>
              <a:rPr lang="en-US" sz="2000" dirty="0"/>
              <a:t>Standardizing values and preparing a reliable analytical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7857" y="512064"/>
            <a:ext cx="5029200" cy="50292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 •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208377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46504"/>
            <a:ext cx="143842" cy="1682496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Time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852928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C2837"/>
                </a:solidFill>
                <a:latin typeface="Aptos"/>
              </a:defRPr>
            </a:pPr>
            <a:r>
              <a:rPr dirty="0"/>
              <a:t>Year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C2837"/>
                </a:solidFill>
                <a:latin typeface="Aptos"/>
              </a:defRPr>
            </a:pPr>
            <a:r>
              <a:rPr dirty="0"/>
              <a:t>Month &amp; Month Name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C2837"/>
                </a:solidFill>
                <a:latin typeface="Aptos"/>
              </a:defRPr>
            </a:pPr>
            <a:r>
              <a:rPr dirty="0"/>
              <a:t>Day &amp; Day Name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C2837"/>
                </a:solidFill>
                <a:latin typeface="Aptos"/>
              </a:defRPr>
            </a:pPr>
            <a:r>
              <a:rPr dirty="0"/>
              <a:t>Time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1C2837"/>
                </a:solidFill>
                <a:latin typeface="Aptos"/>
              </a:defRPr>
            </a:pPr>
            <a:r>
              <a:rPr dirty="0"/>
              <a:t>Hour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20222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746504"/>
            <a:ext cx="136984" cy="1668903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Financial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94560"/>
            <a:ext cx="2852928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rPr dirty="0"/>
              <a:t>Total Price = Amount + </a:t>
            </a:r>
            <a:r>
              <a:rPr dirty="0" err="1"/>
              <a:t>Fawry</a:t>
            </a:r>
            <a:r>
              <a:rPr dirty="0"/>
              <a:t> Fee</a:t>
            </a:r>
          </a:p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rPr dirty="0"/>
              <a:t>Fee Rate = </a:t>
            </a:r>
            <a:r>
              <a:rPr dirty="0" err="1"/>
              <a:t>Fawry</a:t>
            </a:r>
            <a:r>
              <a:rPr dirty="0"/>
              <a:t> Fee / Total Price</a:t>
            </a:r>
          </a:p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rPr dirty="0"/>
              <a:t>Price Category: Low / Medium / High / Very 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00200"/>
            <a:ext cx="3383280" cy="20222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746504"/>
            <a:ext cx="138918" cy="1818777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Operational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194560"/>
            <a:ext cx="2852928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t>Processing Speed: Fast / Normal / Slow</a:t>
            </a:r>
          </a:p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t>Success Status: Success / Failed / Pending</a:t>
            </a:r>
          </a:p>
          <a:p>
            <a:pPr>
              <a:spcAft>
                <a:spcPts val="400"/>
              </a:spcAft>
              <a:defRPr sz="1130">
                <a:solidFill>
                  <a:srgbClr val="1C2837"/>
                </a:solidFill>
                <a:latin typeface="Aptos"/>
              </a:defRPr>
            </a:pPr>
            <a:r>
              <a:t>Derived fields prepared for BI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Merchant RFM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PYTHON • RFM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83280" cy="173032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92224"/>
            <a:ext cx="100584" cy="1307064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RECENCY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852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Days since the merchant's latest transaction.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Lower recency indicates more recent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1"/>
            <a:ext cx="33832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792224"/>
            <a:ext cx="90561" cy="1460930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81051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240280"/>
            <a:ext cx="2852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Count of transactions per merchant.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Higher frequency indicates more active merchants.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45920"/>
            <a:ext cx="33832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792224"/>
            <a:ext cx="90561" cy="1460930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81051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MONETARY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240280"/>
            <a:ext cx="2852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Sum of Total Price per merchant.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Higher monetary value indicates greater transaction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3600274"/>
            <a:ext cx="8321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C2837"/>
                </a:solidFill>
                <a:latin typeface="Aptos"/>
              </a:rPr>
              <a:t>R / F / M scores were assigned using quintiles to support merchant segmentation.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SQL — Database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06D98"/>
                </a:solidFill>
                <a:latin typeface="Aptos"/>
              </a:defRPr>
            </a:pPr>
            <a:r>
              <a:rPr dirty="0"/>
              <a:t>Structuring the data in MySQL and applying relational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SQL •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20354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746504"/>
            <a:ext cx="100584" cy="1682496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Transactions as central fact table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Services and Merchants as related tables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Primary key: Transaction_ID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Foreign keys: Service_ID, Merchant_ID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206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746504"/>
            <a:ext cx="100584" cy="1748438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Data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CSV files loaded with LOAD DATA INFILE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UTF-8 encoding supported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Date fields converted during loading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Cleaned transaction data imported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600200"/>
            <a:ext cx="3383280" cy="20354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746504"/>
            <a:ext cx="99353" cy="1682496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764792"/>
            <a:ext cx="2852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SQL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194560"/>
            <a:ext cx="2852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Filtering &amp; sorting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Aggregations: SUM / AVG / MIN / MAX / COUNT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GROUP BY &amp; HAVING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CASE, subqueries and multiple JOIN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006D98"/>
                </a:solidFill>
                <a:latin typeface="Aptos"/>
              </a:rPr>
              <a:t>Power BI — Data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POWER BI •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92608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2112264"/>
            <a:ext cx="100584" cy="222199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23957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395728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Service_ID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Service_Name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Service_Provider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Merchant_ID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29718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64023" y="1890698"/>
            <a:ext cx="146304" cy="2558210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856232"/>
            <a:ext cx="24414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286000"/>
            <a:ext cx="2441448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Transaction_ID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Service_ID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Merchant_ID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Amount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Fawry_Fee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Transaction_Date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Status</a:t>
            </a:r>
          </a:p>
          <a:p>
            <a:pPr>
              <a:spcAft>
                <a:spcPts val="400"/>
              </a:spcAft>
              <a:defRPr sz="1100">
                <a:solidFill>
                  <a:srgbClr val="1C2837"/>
                </a:solidFill>
                <a:latin typeface="Aptos"/>
              </a:defRPr>
            </a:pPr>
            <a:r>
              <a:t>Payment_Method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292608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21624" y="2112264"/>
            <a:ext cx="100584" cy="222199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2130552"/>
            <a:ext cx="23957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MERCHANTS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560320"/>
            <a:ext cx="2395728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Merchant_ID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Merchant_Name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Merchant_Type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Region</a:t>
            </a:r>
          </a:p>
          <a:p>
            <a:pPr>
              <a:spcAft>
                <a:spcPts val="400"/>
              </a:spcAft>
              <a:defRPr sz="1150">
                <a:solidFill>
                  <a:srgbClr val="1C2837"/>
                </a:solidFill>
                <a:latin typeface="Aptos"/>
              </a:defRPr>
            </a:pPr>
            <a:r>
              <a:t>POS_Status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11880" y="2971800"/>
            <a:ext cx="1005839" cy="411480"/>
          </a:xfrm>
          <a:prstGeom prst="rightArrow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589520" y="2971800"/>
            <a:ext cx="685800" cy="411480"/>
          </a:xfrm>
          <a:prstGeom prst="rightArrow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874519" y="5074920"/>
            <a:ext cx="8458200" cy="59436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837"/>
                </a:solidFill>
                <a:latin typeface="Aptos"/>
              </a:rPr>
              <a:t>Service_ID and Merchant_ID connect transaction activity to business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Power BI — </a:t>
            </a:r>
            <a:r>
              <a:rPr sz="2000" b="1" dirty="0" err="1">
                <a:solidFill>
                  <a:srgbClr val="006D98"/>
                </a:solidFill>
                <a:latin typeface="Aptos"/>
              </a:rPr>
              <a:t>Fawry</a:t>
            </a:r>
            <a:r>
              <a:rPr sz="2000" b="1" dirty="0">
                <a:solidFill>
                  <a:srgbClr val="006D98"/>
                </a:solidFill>
                <a:latin typeface="Aptos"/>
              </a:rPr>
              <a:t> Sales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POWER BI •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1F9C16-2877-329E-6DE8-51878DA19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10" y="1417320"/>
            <a:ext cx="984193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438912"/>
            <a:ext cx="5029200" cy="5029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Dashboard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06D98"/>
                </a:solidFill>
                <a:latin typeface="Aptos"/>
              </a:defRPr>
            </a:pPr>
            <a:r>
              <a:t>The dashboard consolidates the most important business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POWER BI •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057400" cy="123444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2837"/>
                </a:solidFill>
                <a:latin typeface="Aptos"/>
              </a:rPr>
              <a:t>TOTAL TRANSACTIONS</a:t>
            </a:r>
          </a:p>
          <a:p>
            <a:pPr algn="ctr"/>
            <a:r>
              <a:rPr sz="2100" b="1">
                <a:solidFill>
                  <a:srgbClr val="1C2837"/>
                </a:solidFill>
                <a:latin typeface="Aptos Display"/>
              </a:rPr>
              <a:t>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57400" cy="123444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2837"/>
                </a:solidFill>
                <a:latin typeface="Aptos"/>
              </a:rPr>
              <a:t>GMV</a:t>
            </a:r>
          </a:p>
          <a:p>
            <a:pPr algn="ctr"/>
            <a:r>
              <a:rPr sz="2100" b="1">
                <a:solidFill>
                  <a:srgbClr val="1C2837"/>
                </a:solidFill>
                <a:latin typeface="Aptos Display"/>
              </a:rPr>
              <a:t>4.96bn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45920"/>
            <a:ext cx="2057400" cy="123444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2837"/>
                </a:solidFill>
                <a:latin typeface="Aptos"/>
              </a:rPr>
              <a:t>TOTAL REVENUE</a:t>
            </a:r>
          </a:p>
          <a:p>
            <a:pPr algn="ctr"/>
            <a:r>
              <a:rPr sz="2100" b="1">
                <a:solidFill>
                  <a:srgbClr val="1C2837"/>
                </a:solidFill>
                <a:latin typeface="Aptos Display"/>
              </a:rPr>
              <a:t>68.82M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2057400" cy="123444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2837"/>
                </a:solidFill>
                <a:latin typeface="Aptos"/>
              </a:rPr>
              <a:t>NET REVENUE</a:t>
            </a:r>
          </a:p>
          <a:p>
            <a:pPr algn="ctr"/>
            <a:r>
              <a:rPr sz="2100" b="1">
                <a:solidFill>
                  <a:srgbClr val="1C2837"/>
                </a:solidFill>
                <a:latin typeface="Aptos Display"/>
              </a:rPr>
              <a:t>64.11M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2057400" cy="1234440"/>
          </a:xfrm>
          <a:prstGeom prst="roundRect">
            <a:avLst/>
          </a:prstGeom>
          <a:solidFill>
            <a:srgbClr val="FEE566"/>
          </a:solidFill>
          <a:ln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C2837"/>
                </a:solidFill>
                <a:latin typeface="Aptos"/>
              </a:rPr>
              <a:t>ACTIVE MERCHANTS</a:t>
            </a:r>
          </a:p>
          <a:p>
            <a:pPr algn="ctr"/>
            <a:r>
              <a:rPr sz="2100" b="1">
                <a:solidFill>
                  <a:srgbClr val="1C2837"/>
                </a:solidFill>
                <a:latin typeface="Aptos Display"/>
              </a:rPr>
              <a:t>35K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2104" y="3392424"/>
            <a:ext cx="100584" cy="185623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410712"/>
            <a:ext cx="47274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Revenue &amp; Service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40480"/>
            <a:ext cx="472744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January shows the highest monthly net revenue at approximately 20M.</a:t>
            </a:r>
          </a:p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Net revenue per service is led by a group of services at approximately 4.2M each.</a:t>
            </a:r>
          </a:p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Online region leads regional net revenue at approximately 19.2M.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4612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18504" y="3392424"/>
            <a:ext cx="100584" cy="1856232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410712"/>
            <a:ext cx="47274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t>Transaction &amp; Operational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40480"/>
            <a:ext cx="472744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Success rate is approximately 81.3%; failed and pending transactions account for the remainder.</a:t>
            </a:r>
          </a:p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Payment methods are relatively balanced across Credit Card, Cash, and Wallet.</a:t>
            </a:r>
          </a:p>
          <a:p>
            <a:pPr>
              <a:spcAft>
                <a:spcPts val="400"/>
              </a:spcAft>
              <a:defRPr sz="1080">
                <a:solidFill>
                  <a:srgbClr val="1C2837"/>
                </a:solidFill>
                <a:latin typeface="Aptos"/>
              </a:defRPr>
            </a:pPr>
            <a:r>
              <a:t>Slow and Normal transactions each exceed 690K, indicating a meaningful operational monitoring area.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79" y="438912"/>
            <a:ext cx="5848643" cy="5029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 dirty="0">
                <a:solidFill>
                  <a:srgbClr val="006D98"/>
                </a:solidFill>
                <a:latin typeface="Aptos"/>
              </a:rPr>
              <a:t>Key Insights &amp; Business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512064"/>
            <a:ext cx="2011680" cy="393192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INSIGHTS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5257800" cy="32102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82841"/>
            <a:ext cx="130654" cy="2492443"/>
          </a:xfrm>
          <a:prstGeom prst="roundRect">
            <a:avLst/>
          </a:prstGeom>
          <a:solidFill>
            <a:srgbClr val="006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2486" y="1978223"/>
            <a:ext cx="4727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rPr dirty="0"/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887" y="2437228"/>
            <a:ext cx="472744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January is a clear revenue peak, while monthly net revenue is lower across the rest of the year.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Online region generates the highest net revenue among the displayed regions.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High-price transactions dominate the Price Category distribution.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Success is the majority outcome, but failed and pending transactions remain material.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Payment method usage is broadly distributed rather than concentrated in one method.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72768"/>
            <a:ext cx="5257800" cy="321024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E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18504" y="1719072"/>
            <a:ext cx="126258" cy="2861720"/>
          </a:xfrm>
          <a:prstGeom prst="roundRect">
            <a:avLst/>
          </a:prstGeom>
          <a:solidFill>
            <a:srgbClr val="FEE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05469"/>
            <a:ext cx="47274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2837"/>
                </a:solidFill>
                <a:latin typeface="Aptos"/>
              </a:defRPr>
            </a:pPr>
            <a:r>
              <a:rPr dirty="0"/>
              <a:t>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07805"/>
            <a:ext cx="472744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Investigate the drivers behind the January revenue spike and assess whether they can be replicated.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Prioritize high-value services and merchant segments for growth initiatives.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Monitor failed and pending transactions by service, merchant, and payment method.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Review slow processing paths and target operational bottlenecks.</a:t>
            </a:r>
          </a:p>
          <a:p>
            <a:pPr>
              <a:spcAft>
                <a:spcPts val="400"/>
              </a:spcAft>
              <a:defRPr sz="1120">
                <a:solidFill>
                  <a:srgbClr val="1C2837"/>
                </a:solidFill>
                <a:latin typeface="Aptos"/>
              </a:defRPr>
            </a:pPr>
            <a:r>
              <a:rPr dirty="0"/>
              <a:t>Use Merchant RFM scores to prioritize retention and engagement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1371600"/>
            <a:ext cx="85496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900" b="1" dirty="0" err="1">
                <a:solidFill>
                  <a:srgbClr val="006D98"/>
                </a:solidFill>
                <a:latin typeface="Aptos Display"/>
              </a:rPr>
              <a:t>Fawry</a:t>
            </a:r>
            <a:r>
              <a:rPr sz="2900" b="1" dirty="0">
                <a:solidFill>
                  <a:srgbClr val="006D98"/>
                </a:solidFill>
                <a:latin typeface="Aptos Display"/>
              </a:rPr>
              <a:t> Business Intelligence System</a:t>
            </a:r>
          </a:p>
          <a:p>
            <a:pPr algn="ctr">
              <a:spcBef>
                <a:spcPts val="1400"/>
              </a:spcBef>
            </a:pPr>
            <a:r>
              <a:rPr sz="1600" dirty="0">
                <a:solidFill>
                  <a:srgbClr val="1C2837"/>
                </a:solidFill>
                <a:latin typeface="Aptos"/>
              </a:rPr>
              <a:t>From raw transaction data to actionable business intelligence</a:t>
            </a:r>
          </a:p>
          <a:p>
            <a:pPr algn="ctr">
              <a:spcBef>
                <a:spcPts val="2800"/>
              </a:spcBef>
            </a:pPr>
            <a:r>
              <a:rPr sz="1300" b="1" dirty="0">
                <a:solidFill>
                  <a:srgbClr val="006D98"/>
                </a:solidFill>
                <a:latin typeface="Aptos"/>
              </a:rPr>
              <a:t>Python  •  SQL  •  Power BI</a:t>
            </a:r>
          </a:p>
          <a:p>
            <a:pPr algn="ctr">
              <a:spcBef>
                <a:spcPts val="2600"/>
              </a:spcBef>
            </a:pPr>
            <a:r>
              <a:rPr sz="2500" b="1" dirty="0">
                <a:solidFill>
                  <a:srgbClr val="FEE566"/>
                </a:solidFill>
                <a:latin typeface="Aptos Display"/>
              </a:rPr>
              <a:t>Thank</a:t>
            </a:r>
            <a:r>
              <a:rPr lang="en-US" sz="2500" b="1" dirty="0">
                <a:solidFill>
                  <a:srgbClr val="FEE566"/>
                </a:solidFill>
                <a:latin typeface="Aptos Display"/>
              </a:rPr>
              <a:t>s</a:t>
            </a:r>
            <a:endParaRPr sz="2500" b="1" dirty="0">
              <a:solidFill>
                <a:srgbClr val="FEE566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86573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1263</Words>
  <Application>Microsoft Office PowerPoint</Application>
  <PresentationFormat>Widescreen</PresentationFormat>
  <Paragraphs>244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Business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Shahd Ahmed</dc:creator>
  <cp:lastModifiedBy>Ahmed Dora</cp:lastModifiedBy>
  <cp:revision>4</cp:revision>
  <dcterms:created xsi:type="dcterms:W3CDTF">2026-08-08T03:39:11Z</dcterms:created>
  <dcterms:modified xsi:type="dcterms:W3CDTF">2026-08-08T09:22:01Z</dcterms:modified>
</cp:coreProperties>
</file>